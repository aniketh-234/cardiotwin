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cardiovascular digital twin that updates with data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694944" y="28163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health profile + 28-day daily measurements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4944" y="3520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risk model  •  transparent trend rules  •  inspectable explanations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94944" y="4800600"/>
            <a:ext cx="1965960" cy="384048"/>
          </a:xfrm>
          <a:prstGeom prst="roundRect">
            <a:avLst>
              <a:gd name="adj" fmla="val 42857"/>
            </a:avLst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" y="487375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52928" y="4800600"/>
            <a:ext cx="2057400" cy="384048"/>
          </a:xfrm>
          <a:prstGeom prst="roundRect">
            <a:avLst>
              <a:gd name="adj" fmla="val 42857"/>
            </a:avLst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71800" y="4873752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5605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/ College: add before recording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and our focused answer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5303520" cy="3200400"/>
          </a:xfrm>
          <a:prstGeom prst="roundRect">
            <a:avLst>
              <a:gd name="adj" fmla="val 5143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1719072"/>
            <a:ext cx="54864" cy="3200400"/>
          </a:xfrm>
          <a:prstGeom prst="rect">
            <a:avLst/>
          </a:prstGeom>
          <a:solidFill>
            <a:srgbClr val="FFB66D"/>
          </a:solidFill>
          <a:ln w="12700">
            <a:solidFill>
              <a:srgbClr val="FFB66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193852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2487168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historical record is static. Recent daily measurements change. A single score alone does not explain what changed.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719072"/>
            <a:ext cx="5303520" cy="3200400"/>
          </a:xfrm>
          <a:prstGeom prst="roundRect">
            <a:avLst>
              <a:gd name="adj" fmla="val 5143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719072"/>
            <a:ext cx="54864" cy="32004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193852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prototype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 rolling virtual-patient state, refresh model inference after each new day, and expose review reasons.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2578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hypothetical cardiovascular event within 5 years — not an imminent heart-attack alarm.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TARGET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streams, one synthetic patient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5303520" cy="3383280"/>
          </a:xfrm>
          <a:prstGeom prst="roundRect">
            <a:avLst>
              <a:gd name="adj" fmla="val 4865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1673352"/>
            <a:ext cx="54864" cy="338328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189280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profile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2441448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sex, BMI, systolic BP, cholesterol, HDL, smoking and diabetes.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673352"/>
            <a:ext cx="5303520" cy="3383280"/>
          </a:xfrm>
          <a:prstGeom prst="roundRect">
            <a:avLst>
              <a:gd name="adj" fmla="val 4865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673352"/>
            <a:ext cx="54864" cy="3383280"/>
          </a:xfrm>
          <a:prstGeom prst="rect">
            <a:avLst/>
          </a:prstGeom>
          <a:solidFill>
            <a:srgbClr val="8BE1B3"/>
          </a:solidFill>
          <a:ln w="12700">
            <a:solidFill>
              <a:srgbClr val="8BE1B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189280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trajectory · 28 days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46520" y="2441448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Resting HR, HRV, steps, sleep, home systolic BP and measurement coverage.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367528"/>
            <a:ext cx="2194560" cy="384048"/>
          </a:xfrm>
          <a:prstGeom prst="roundRect">
            <a:avLst>
              <a:gd name="adj" fmla="val 42857"/>
            </a:avLst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0392" y="544068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 PATIENTS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5367528"/>
            <a:ext cx="2834640" cy="384048"/>
          </a:xfrm>
          <a:prstGeom prst="roundRect">
            <a:avLst>
              <a:gd name="adj" fmla="val 42857"/>
            </a:avLst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19272" y="5440680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112,000 DAILY ROWS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7648" y="5367528"/>
            <a:ext cx="2926080" cy="384048"/>
          </a:xfrm>
          <a:prstGeom prst="roundRect">
            <a:avLst>
              <a:gd name="adj" fmla="val 42857"/>
            </a:avLst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46520" y="544068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PATIENT-LEVEL SPLIT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system works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2075688" cy="1508760"/>
          </a:xfrm>
          <a:prstGeom prst="roundRect">
            <a:avLst>
              <a:gd name="adj" fmla="val 1090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" y="2551176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" y="3081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+ daily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798064"/>
            <a:ext cx="26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2862072" y="2331720"/>
            <a:ext cx="2075688" cy="1508760"/>
          </a:xfrm>
          <a:prstGeom prst="roundRect">
            <a:avLst>
              <a:gd name="adj" fmla="val 1090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08376" y="2551176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08376" y="3081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/ gate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5192" y="2798064"/>
            <a:ext cx="26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5221224" y="2331720"/>
            <a:ext cx="2075688" cy="1508760"/>
          </a:xfrm>
          <a:prstGeom prst="roundRect">
            <a:avLst>
              <a:gd name="adj" fmla="val 1090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67528" y="2551176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CNN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67528" y="3081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probability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24344" y="2798064"/>
            <a:ext cx="26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580376" y="2331720"/>
            <a:ext cx="2075688" cy="1508760"/>
          </a:xfrm>
          <a:prstGeom prst="roundRect">
            <a:avLst>
              <a:gd name="adj" fmla="val 1090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26680" y="2551176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26680" y="3081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rules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83496" y="2798064"/>
            <a:ext cx="26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9939528" y="2331720"/>
            <a:ext cx="2075688" cy="1508760"/>
          </a:xfrm>
          <a:prstGeom prst="roundRect">
            <a:avLst>
              <a:gd name="adj" fmla="val 1090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85832" y="2551176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85832" y="3081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+ 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709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flag trends separately; they do not alter the CNN probability.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77240" y="526694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B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Insufficient recent data → withhold the prediction.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SHOW, DO NOT JUST TELL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demo is the centerpiece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10744200" cy="859536"/>
          </a:xfrm>
          <a:prstGeom prst="roundRect">
            <a:avLst>
              <a:gd name="adj" fmla="val 1914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0976" y="17647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709928" y="17282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and inspect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577840" y="174650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profile, score, trajectory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633472"/>
            <a:ext cx="10744200" cy="859536"/>
          </a:xfrm>
          <a:prstGeom prst="roundRect">
            <a:avLst>
              <a:gd name="adj" fmla="val 1914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50976" y="279806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709928" y="2761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a new day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577840" y="2779776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state + refreshed inference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" y="3666744"/>
            <a:ext cx="10744200" cy="859536"/>
          </a:xfrm>
          <a:prstGeom prst="roundRect">
            <a:avLst>
              <a:gd name="adj" fmla="val 1914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0976" y="38313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709928" y="3794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adverse trends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577840" y="38130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rule-review reasons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" y="4700016"/>
            <a:ext cx="10744200" cy="859536"/>
          </a:xfrm>
          <a:prstGeom prst="roundRect">
            <a:avLst>
              <a:gd name="adj" fmla="val 1914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50976" y="48646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709928" y="48280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and stress-test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577840" y="48463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Sensitivity, scenario, sensor dropout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B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to the running dashboard for the actual interaction.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held-out evaluation actually shows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7465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1746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Detected events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56832" y="1746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alerts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98280" y="1746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events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10899648" cy="713232"/>
          </a:xfrm>
          <a:prstGeom prst="roundRect">
            <a:avLst>
              <a:gd name="adj" fmla="val 23077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2560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· 50%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5603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56832" y="25603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98280" y="25603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10899648" cy="713232"/>
          </a:xfrm>
          <a:prstGeom prst="roundRect">
            <a:avLst>
              <a:gd name="adj" fmla="val 23077"/>
            </a:avLst>
          </a:prstGeom>
          <a:solidFill>
            <a:srgbClr val="183B48"/>
          </a:solidFill>
          <a:ln w="12700">
            <a:solidFill>
              <a:srgbClr val="183B4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" y="344728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+ trend rules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344728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56832" y="344728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344728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0080" y="4197096"/>
            <a:ext cx="10899648" cy="713232"/>
          </a:xfrm>
          <a:prstGeom prst="roundRect">
            <a:avLst>
              <a:gd name="adj" fmla="val 23077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232" y="4334256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· 37.93%*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97680" y="43342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43342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98280" y="43342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53583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Threshold selected on validation to match hybrid alert workload; exploratory comparison.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584301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B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rules improve transparency, but do not establish better prediction.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AND BOUNDARIES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prototype credible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82496"/>
            <a:ext cx="5285232" cy="3401568"/>
          </a:xfrm>
          <a:prstGeom prst="roundRect">
            <a:avLst>
              <a:gd name="adj" fmla="val 483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1682496"/>
            <a:ext cx="54864" cy="3401568"/>
          </a:xfrm>
          <a:prstGeom prst="rect">
            <a:avLst/>
          </a:prstGeom>
          <a:solidFill>
            <a:srgbClr val="8BE1B3"/>
          </a:solidFill>
          <a:ln w="12700">
            <a:solidFill>
              <a:srgbClr val="8BE1B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1901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86968" y="2450592"/>
            <a:ext cx="482803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PyTorch inference; browser dashboard; SQLite state and journal; reproducible model artifacts and tests.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1682496"/>
            <a:ext cx="5285232" cy="3401568"/>
          </a:xfrm>
          <a:prstGeom prst="roundRect">
            <a:avLst>
              <a:gd name="adj" fmla="val 483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9632" y="1682496"/>
            <a:ext cx="54864" cy="3401568"/>
          </a:xfrm>
          <a:prstGeom prst="rect">
            <a:avLst/>
          </a:prstGeom>
          <a:solidFill>
            <a:srgbClr val="FFB66D"/>
          </a:solidFill>
          <a:ln w="12700">
            <a:solidFill>
              <a:srgbClr val="FFB66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28232" y="1901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claimed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28232" y="2450592"/>
            <a:ext cx="482803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real-device connection, clinical validation, SHAP attribution, treatment-effect estimate or production deployment.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" y="5404104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reported performance is on a custom synthetic simulator.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4DD8D0"/>
          </a:solidFill>
          <a:ln w="12700">
            <a:solidFill>
              <a:srgbClr val="4DD8D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foundation — with clear next steps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556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CARDIOTWIN  /  RESEARCH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007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today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two-stream state  •  live ingestion  •  trained inference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review  •  scenario comparison  •  evidence panel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AA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matched real longitudinal data, independent validation, calibration, clinical review and secure integration.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5577840"/>
            <a:ext cx="2834640" cy="384048"/>
          </a:xfrm>
          <a:prstGeom prst="roundRect">
            <a:avLst>
              <a:gd name="adj" fmla="val 42857"/>
            </a:avLst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6112" y="565099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DD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+ 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0" y="55961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CardioTwin | Cardiovascular Digital Twin</dc:title>
  <dc:subject>Hackathon prototype demo</dc:subject>
  <dc:creator>CardioTwin</dc:creator>
  <cp:lastModifiedBy>CardioTwin</cp:lastModifiedBy>
  <cp:revision>1</cp:revision>
  <dcterms:created xsi:type="dcterms:W3CDTF">2026-10-20T09:48:07Z</dcterms:created>
  <dcterms:modified xsi:type="dcterms:W3CDTF">2026-10-20T09:48:07Z</dcterms:modified>
</cp:coreProperties>
</file>